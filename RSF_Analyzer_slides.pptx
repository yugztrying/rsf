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0515600" cy="9144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RSF Analyser — Quarterly Report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2C3E50"/>
                </a:solidFill>
                <a:latin typeface="Calibri"/>
              </a:rPr>
              <a:t>From "it will slow us down" to ~80% time saved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C0392B"/>
                </a:solidFill>
                <a:latin typeface="Calibri"/>
              </a:rPr>
              <a:t>✗  Before — the team expected the tool to ADD work: up to +50% more time than Excel.</a:t>
            </a:r>
          </a:p>
          <a:p>
            <a:pPr algn="l">
              <a:spcAft>
                <a:spcPts val="0"/>
              </a:spcAft>
            </a:pPr>
            <a:r>
              <a:rPr sz="1600" b="1">
                <a:solidFill>
                  <a:srgbClr val="1E8E5A"/>
                </a:solidFill>
                <a:latin typeface="Calibri"/>
              </a:rPr>
              <a:t>✓  Now — ~80% time saved, validated after two rounds of iteration with the team.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11880"/>
            <a:ext cx="3566160" cy="2148840"/>
          </a:xfrm>
          <a:prstGeom prst="round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3566160" cy="9144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>
                <a:solidFill>
                  <a:srgbClr val="1E8E5A"/>
                </a:solidFill>
                <a:latin typeface="Calibri"/>
              </a:rPr>
              <a:t>~80%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Time saved vs. manual correction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3611880"/>
            <a:ext cx="3566160" cy="2148840"/>
          </a:xfrm>
          <a:prstGeom prst="round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3840480"/>
            <a:ext cx="3566160" cy="9144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>
                <a:solidFill>
                  <a:srgbClr val="2C3E50"/>
                </a:solidFill>
                <a:latin typeface="Calibri"/>
              </a:rPr>
              <a:t>~90%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484632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Tool completion — all tester feedback addressed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3611880"/>
            <a:ext cx="3566160" cy="2148840"/>
          </a:xfrm>
          <a:prstGeom prst="roundRect">
            <a:avLst/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9" y="3840480"/>
            <a:ext cx="3566160" cy="9144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>
                <a:solidFill>
                  <a:srgbClr val="2C3E50"/>
                </a:solidFill>
                <a:latin typeface="Calibri"/>
              </a:rPr>
              <a:t>2×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9" y="484632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666666"/>
                </a:solidFill>
                <a:latin typeface="Calibri"/>
              </a:rPr>
              <a:t>Projects a Portfolio Officer can handle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Calibri"/>
              </a:rPr>
              <a:t>Phase 1 — live &amp; validated   ·   data stays in your browser   ·   original file never modified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0515600" cy="9144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What changed — and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3E50"/>
                </a:solidFill>
                <a:latin typeface="Calibri"/>
              </a:rPr>
              <a:t>What we did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120640" cy="3108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 b="0">
                <a:solidFill>
                  <a:srgbClr val="333333"/>
                </a:solidFill>
                <a:latin typeface="Calibri"/>
              </a:rPr>
              <a:t>•  Bulk corrections across many facilities in one click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333333"/>
                </a:solidFill>
                <a:latin typeface="Calibri"/>
              </a:rPr>
              <a:t>•  Automatic calculation of arrears days (jours d'impayé)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333333"/>
                </a:solidFill>
                <a:latin typeface="Calibri"/>
              </a:rPr>
              <a:t>•  Quarter-over-quarter: previous values shown inline, restore in one click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333333"/>
                </a:solidFill>
                <a:latin typeface="Calibri"/>
              </a:rPr>
              <a:t>•  Clean export — file stays intact (formats &amp; formulas preserved)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2C3E50"/>
                </a:solidFill>
                <a:latin typeface="Calibri"/>
              </a:rPr>
              <a:t>What it means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5120640" cy="3108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50" b="0">
                <a:solidFill>
                  <a:srgbClr val="333333"/>
                </a:solidFill>
                <a:latin typeface="Calibri"/>
              </a:rPr>
              <a:t>•  Officers review exceptions only — not every row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333333"/>
                </a:solidFill>
                <a:latin typeface="Calibri"/>
              </a:rPr>
              <a:t>•  Juniors can process reports under supervision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333333"/>
                </a:solidFill>
                <a:latin typeface="Calibri"/>
              </a:rPr>
              <a:t>•  ≈2× projects per Portfolio Officer</a:t>
            </a:r>
          </a:p>
          <a:p>
            <a:pPr algn="l">
              <a:spcAft>
                <a:spcPts val="1000"/>
              </a:spcAft>
            </a:pPr>
            <a:r>
              <a:rPr sz="1550" b="0">
                <a:solidFill>
                  <a:srgbClr val="333333"/>
                </a:solidFill>
                <a:latin typeface="Calibri"/>
              </a:rPr>
              <a:t>•  Reports ready to share with IFC teams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166360"/>
            <a:ext cx="11064240" cy="1097280"/>
          </a:xfrm>
          <a:prstGeom prst="round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66360"/>
            <a:ext cx="10332720" cy="10972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9FC5E8"/>
                </a:solidFill>
                <a:latin typeface="Calibri"/>
              </a:rPr>
              <a:t>What's next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Broader support for all reporting formats + automated fixes  →  Phase 2: client self-service portal.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